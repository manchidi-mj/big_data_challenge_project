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MA: Set up the motivation and state the problem — indicators exist but their link to churn isn't obvious without structured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JM: Frame the questions; preview that the ML answer is nuanced due to a data issue we found.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TH: We verified the real schema and are explicit about not confirming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TH: Explain learn-once-run-anywhere design and the Windows winutils/Parquet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MA: Recency dominates; demographics and spend do not separate churners.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MA: Explain 5-bin scoring with recency reversed; segments split by recency.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JM: Emphasise no leakage from scaling/encoding and why two experiments.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JM: This is the most important result; the 'best' naive model is not real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JM: Contrast A vs B; discuss false-negative cost; no honest predictive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MA+JM: Keep findings separate from proposed actions; no causal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All: Summarise the honest story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Customer Churn &amp; Behaviour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Big Data Analytics, RFM Segmentation &amp; ML-Based Churn Prediction</a:t>
            </a:r>
          </a:p>
          <a:p>
            <a:r>
              <a:t>Mkhawana T. Hleketani  |  Burgos Carrera, M. de Los Angeles  |  Manchidi M. John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E-commerce generates rich behavioural data on loyalty and churn.</a:t>
            </a:r>
          </a:p>
          <a:p>
            <a:pPr>
              <a:defRPr sz="1800"/>
            </a:pPr>
            <a:r>
              <a:t>Retailers struggle to spot at-risk customers before they leave.</a:t>
            </a:r>
          </a:p>
          <a:p>
            <a:pPr>
              <a:defRPr sz="1800"/>
            </a:pPr>
            <a:r>
              <a:t>Retention is an important lever (cost advantage is context-dependent).</a:t>
            </a:r>
          </a:p>
          <a:p>
            <a:pPr>
              <a:defRPr sz="1800"/>
            </a:pPr>
            <a:r>
              <a:t>Goal: turn data into measurable findings and retention guidance.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Main Q: which behaviours relate to churn, and how well can ML predict it?</a:t>
            </a:r>
          </a:p>
          <a:p>
            <a:pPr>
              <a:defRPr sz="1800"/>
            </a:pPr>
            <a:r>
              <a:t>SQ1: churn proportion; how churned vs retained differ.</a:t>
            </a:r>
          </a:p>
          <a:p>
            <a:pPr>
              <a:defRPr sz="1800"/>
            </a:pPr>
            <a:r>
              <a:t>SQ2: which RFM segments are most at risk.</a:t>
            </a:r>
          </a:p>
          <a:p>
            <a:pPr>
              <a:defRPr sz="1800"/>
            </a:pPr>
            <a:r>
              <a:t>SQ3: best model and most important features.</a:t>
            </a:r>
          </a:p>
          <a:p>
            <a:pPr>
              <a:defRPr sz="1800"/>
            </a:pPr>
            <a:r>
              <a:t>Objectives: document data, clean (PySpark), EDA, RFM, model, recommend, limit.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Dataset, provenance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Kaggle: E-Commerce Customer Churn 2025 - 10K (MIT licence).</a:t>
            </a:r>
          </a:p>
          <a:p>
            <a:pPr>
              <a:defRPr sz="1800"/>
            </a:pPr>
            <a:r>
              <a:t>Verified 10,000 rows x 15 columns; one row per customer.</a:t>
            </a:r>
          </a:p>
          <a:p>
            <a:pPr>
              <a:defRPr sz="1800"/>
            </a:pPr>
            <a:r>
              <a:t>No missing values, no duplicates. Churn rate 37.7%.</a:t>
            </a:r>
          </a:p>
          <a:p>
            <a:pPr>
              <a:defRPr sz="1800"/>
            </a:pPr>
            <a:r>
              <a:t>Real schema differed from the brief's provisional list.</a:t>
            </a:r>
          </a:p>
          <a:p>
            <a:pPr>
              <a:defRPr sz="1800"/>
            </a:pPr>
            <a:r>
              <a:t>Real vs synthetic: UNVERIFIED (author gives no description).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engineering &amp; PySpark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Reproducible: read -&gt; dedupe -&gt; impute -&gt; normalise -&gt; derive tenure -&gt; persist.</a:t>
            </a:r>
          </a:p>
          <a:p>
            <a:pPr>
              <a:defRPr sz="1800"/>
            </a:pPr>
            <a:r>
              <a:t>Pandas and PySpark paths agree (10,000 -&gt; 10,000 rows; nothing dropped).</a:t>
            </a:r>
          </a:p>
          <a:p>
            <a:pPr>
              <a:defRPr sz="1800"/>
            </a:pPr>
            <a:r>
              <a:t>10k rows are NOT 'big data' - PySpark demonstrates a scalable DESIGN.</a:t>
            </a:r>
          </a:p>
          <a:p>
            <a:pPr>
              <a:defRPr sz="1800"/>
            </a:pPr>
            <a:r>
              <a:t>Same code would run on a cluster for millions of customers.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churn distribution</a:t>
            </a:r>
          </a:p>
        </p:txBody>
      </p:sp>
      <p:pic>
        <p:nvPicPr>
          <p:cNvPr id="3" name="Picture 2" descr="01_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31363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37.7% churn (3,771 of 10,000).</a:t>
            </a:r>
          </a:p>
          <a:p>
            <a:pPr>
              <a:defRPr sz="1400"/>
            </a:pPr>
            <a:r>
              <a:t>Churned vs retained differ almost only in recency: ~301 vs ~9 days.</a:t>
            </a:r>
          </a:p>
          <a:p>
            <a:pPr>
              <a:defRPr sz="1400"/>
            </a:pPr>
            <a:r>
              <a:t>Spend, orders, age, device, category: nearly identical across groups.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RFM segmentation</a:t>
            </a:r>
          </a:p>
        </p:txBody>
      </p:sp>
      <p:pic>
        <p:nvPicPr>
          <p:cNvPr id="3" name="Picture 2" descr="04_categorical_churn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7262536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True RFM: Recency=days_since, Frequency=orders, Monetary=spend.</a:t>
            </a:r>
          </a:p>
          <a:p>
            <a:pPr>
              <a:defRPr sz="1400"/>
            </a:pPr>
            <a:r>
              <a:t>'Needs Attention' (31.8%) and 'At Risk' (8.3%): ~94% churn.</a:t>
            </a:r>
          </a:p>
          <a:p>
            <a:pPr>
              <a:defRPr sz="1400"/>
            </a:pPr>
            <a:r>
              <a:t>Recent segments (Champions, Loyal, ...): ~0% churn.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Machine-learning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Binary classification of 'churned'.</a:t>
            </a:r>
          </a:p>
          <a:p>
            <a:pPr>
              <a:defRPr sz="1800"/>
            </a:pPr>
            <a:r>
              <a:t>Preprocessing inside sklearn Pipelines (fit on train folds only).</a:t>
            </a:r>
          </a:p>
          <a:p>
            <a:pPr>
              <a:defRPr sz="1800"/>
            </a:pPr>
            <a:r>
              <a:t>Models: DummyClassifier, Logistic Regression, Random Forest.</a:t>
            </a:r>
          </a:p>
          <a:p>
            <a:pPr>
              <a:defRPr sz="1800"/>
            </a:pPr>
            <a:r>
              <a:t>Stratified 80/20 split, seed 42, 5-fold CV for selection.</a:t>
            </a:r>
          </a:p>
          <a:p>
            <a:pPr>
              <a:defRPr sz="1800"/>
            </a:pPr>
            <a:r>
              <a:t>Two experiments: A = all features, B = leakage-resistant (primary).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Leakage finding (key result)</a:t>
            </a:r>
          </a:p>
        </p:txBody>
      </p:sp>
      <p:pic>
        <p:nvPicPr>
          <p:cNvPr id="3" name="Picture 2" descr="05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60206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churned == (days_since_last_purchase &gt; 90) at 100% accuracy.</a:t>
            </a:r>
          </a:p>
          <a:p>
            <a:pPr>
              <a:defRPr sz="1400"/>
            </a:pPr>
            <a:r>
              <a:t>This field DEFINES the label -&gt; target-defining leakage.</a:t>
            </a:r>
          </a:p>
          <a:p>
            <a:pPr>
              <a:defRPr sz="1400"/>
            </a:pPr>
            <a:r>
              <a:t>Dates encode the same recency -&gt; also leakage.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&amp; comparison</a:t>
            </a:r>
          </a:p>
        </p:txBody>
      </p:sp>
      <p:pic>
        <p:nvPicPr>
          <p:cNvPr id="3" name="Picture 2" descr="roc_experimen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444238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Experiment A ~100% (because of leakage) - a sanity check, not a result.</a:t>
            </a:r>
          </a:p>
          <a:p>
            <a:pPr>
              <a:defRPr sz="1400"/>
            </a:pPr>
            <a:r>
              <a:t>Experiment B: RF ROC-AUC 0.54, F1 0.37; LR F1 0.46.</a:t>
            </a:r>
          </a:p>
          <a:p>
            <a:pPr>
              <a:defRPr sz="1400"/>
            </a:pPr>
            <a:r>
              <a:t>Barely above majority baseline (Dummy accuracy 0.623).</a:t>
            </a:r>
          </a:p>
          <a:p>
            <a:pPr>
              <a:defRPr sz="1400"/>
            </a:pPr>
            <a:r>
              <a:t>Low recall + precision -&gt; unfit for targeting.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&amp; retention recommendations</a:t>
            </a:r>
          </a:p>
        </p:txBody>
      </p:sp>
      <p:pic>
        <p:nvPicPr>
          <p:cNvPr id="3" name="Picture 2" descr="importance_rf_exp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368395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35040" y="137160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Exp B importances all tiny; no feature stands out.</a:t>
            </a:r>
          </a:p>
          <a:p>
            <a:pPr>
              <a:defRPr sz="1400"/>
            </a:pPr>
            <a:r>
              <a:t>R1 Re-engage before day 90. R2 Protect Champions/Loyal.</a:t>
            </a:r>
          </a:p>
          <a:p>
            <a:pPr>
              <a:defRPr sz="1400"/>
            </a:pPr>
            <a:r>
              <a:t>R3 Prioritise high-value 'At Risk'. R4 Don't deploy a predictive model yet.</a:t>
            </a:r>
          </a:p>
          <a:p>
            <a:pPr>
              <a:defRPr sz="1400"/>
            </a:pPr>
            <a:r>
              <a:t>Associations, not causation.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Conclusion, 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Delivered a tested, reproducible, leakage-aware pipeline end-to-end.</a:t>
            </a:r>
          </a:p>
          <a:p>
            <a:pPr>
              <a:defRPr sz="1800"/>
            </a:pPr>
            <a:r>
              <a:t>Headline: churn is a recency rule; apparent 100% models restate the label.</a:t>
            </a:r>
          </a:p>
          <a:p>
            <a:pPr>
              <a:defRPr sz="1800"/>
            </a:pPr>
            <a:r>
              <a:t>Dataset describes the base but can't predict FUTURE churn.</a:t>
            </a:r>
          </a:p>
          <a:p>
            <a:pPr>
              <a:defRPr sz="1800"/>
            </a:pPr>
            <a:r>
              <a:t>Future: event-level forward-labelled data, A/B test, scale-test Spark.</a:t>
            </a:r>
          </a:p>
          <a:p>
            <a:pPr>
              <a:defRPr sz="1800"/>
            </a:pPr>
            <a:r>
              <a:t>Thank you -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